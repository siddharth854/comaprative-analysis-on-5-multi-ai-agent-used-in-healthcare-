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502920" cy="66934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635" y="658495"/>
            <a:ext cx="4754880" cy="4754880"/>
          </a:xfrm>
          <a:prstGeom prst="rect">
            <a:avLst/>
          </a:prstGeom>
          <a:solidFill>
            <a:srgbClr val="02809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058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BC8E0"/>
                </a:solidFill>
                <a:latin typeface="Calibri Light" panose="020F0302020204030204"/>
              </a:rPr>
              <a:t>Comparative Analysis of</a:t>
            </a:r>
            <a:endParaRPr sz="2200" b="0" i="0">
              <a:solidFill>
                <a:srgbClr val="9BC8E0"/>
              </a:solidFill>
              <a:latin typeface="Calibri Light" panose="020F03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 panose="020F0502020204030204"/>
              </a:rPr>
              <a:t>Multi-Agent AI Systems</a:t>
            </a:r>
            <a:endParaRPr sz="4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2C39A"/>
                </a:solidFill>
                <a:latin typeface="Calibri" panose="020F0502020204030204"/>
              </a:rPr>
              <a:t>in Healthcare</a:t>
            </a:r>
            <a:endParaRPr sz="34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9808" y="3246120"/>
            <a:ext cx="5303520" cy="411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C8E0"/>
                </a:solidFill>
                <a:latin typeface="Calibri Light" panose="020F0302020204030204"/>
              </a:rPr>
              <a:t>Architecture  ·  Privacy  ·  Clinical Outcomes  ·  Ethical Governance</a:t>
            </a:r>
            <a:endParaRPr sz="1300" b="0" i="0">
              <a:solidFill>
                <a:srgbClr val="9BC8E0"/>
              </a:solidFill>
              <a:latin typeface="Calibri Light" panose="020F03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0584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A8C8"/>
                </a:solidFill>
                <a:latin typeface="Calibri Light" panose="020F0302020204030204"/>
              </a:rPr>
              <a:t>A Structured Review of Five  MAS Frameworks (2024–2025)</a:t>
            </a:r>
            <a:endParaRPr sz="1200" b="0" i="1">
              <a:solidFill>
                <a:srgbClr val="78A8C8"/>
              </a:solidFill>
              <a:latin typeface="Calibri Light" panose="020F0302020204030204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820420" y="4565650"/>
            <a:ext cx="5222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BY Siddharth Joshi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under the supervision of Dr. Shilpa Sharma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 panose="020F0502020204030204"/>
              </a:rPr>
              <a:t>INTRODUCTION</a:t>
            </a:r>
            <a:endParaRPr sz="10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62C54"/>
                </a:solidFill>
                <a:latin typeface="Calibri" panose="020F0502020204030204"/>
              </a:rPr>
              <a:t>Background &amp; Motivation</a:t>
            </a:r>
            <a:endParaRPr sz="27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6949440" cy="45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91440" cy="4526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The Challenge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653796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AI in healthcare has evolved from narrow rule-based tools to sophisticated reasoning systems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Single-model AI is limited cannot handle the full complexity of modern clinical workflows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Critical care demands real-time, multi-domain, coordinated decision-making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Privacy, governance, and explainability are inconsistently addressed across AI systems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What is a Multi-Agent System?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4434840"/>
            <a:ext cx="6537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Multiple independent AI agents, each with a specialized clinical function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Agents communicate and collaborate to achieve a shared patient-care goal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A3A"/>
                </a:solidFill>
                <a:latin typeface="Calibri" panose="020F0502020204030204"/>
              </a:rPr>
              <a:t>▸  Powered by frameworks: AutoGen · LangChain · CrewAI</a:t>
            </a:r>
            <a:endParaRPr sz="1200">
              <a:solidFill>
                <a:srgbClr val="1A2A3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99248" y="1298448"/>
            <a:ext cx="4160520" cy="1042415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38988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2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99448" y="1499616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 panose="020F0302020204030204"/>
              </a:rPr>
              <a:t>MAS Systems
Analyzed</a:t>
            </a:r>
            <a:endParaRPr sz="1200" b="0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99248" y="2432304"/>
            <a:ext cx="4160520" cy="1042415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523744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7</a:t>
            </a:r>
            <a:endParaRPr sz="2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99448" y="2633472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 panose="020F0302020204030204"/>
              </a:rPr>
              <a:t>Evaluation
Parameters</a:t>
            </a:r>
            <a:endParaRPr sz="1200" b="0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99248" y="3566160"/>
            <a:ext cx="4160520" cy="1042415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7315" y="3657600"/>
            <a:ext cx="15081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2024</a:t>
            </a:r>
            <a:r>
              <a:rPr lang="en-US" sz="2800" b="1" i="0">
                <a:solidFill>
                  <a:srgbClr val="FFFFFF"/>
                </a:solidFill>
                <a:latin typeface="Calibri" panose="020F0502020204030204"/>
              </a:rPr>
              <a:t>-</a:t>
            </a:r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25</a:t>
            </a:r>
            <a:endParaRPr sz="2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82328" y="37673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 panose="020F0302020204030204"/>
              </a:rPr>
              <a:t>Publication
Period</a:t>
            </a:r>
            <a:endParaRPr sz="1200" b="0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99248" y="4700016"/>
            <a:ext cx="4160520" cy="1042415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791455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200+</a:t>
            </a:r>
            <a:endParaRPr sz="2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99448" y="4901183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 panose="020F0302020204030204"/>
              </a:rPr>
              <a:t>Patients in
Largest Trial</a:t>
            </a:r>
            <a:endParaRPr sz="1200" b="0" i="0">
              <a:solidFill>
                <a:srgbClr val="FFFFFF"/>
              </a:solidFill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 panose="020F0502020204030204"/>
              </a:rPr>
              <a:t>LITERATURE REVIEW</a:t>
            </a:r>
            <a:endParaRPr sz="10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62C54"/>
                </a:solidFill>
                <a:latin typeface="Calibri" panose="020F0502020204030204"/>
              </a:rPr>
              <a:t>Five Reviewed MAS Frameworks (2024–2025)</a:t>
            </a:r>
            <a:endParaRPr sz="27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09728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44751"/>
            <a:ext cx="621792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1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133502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IoT-MAS-T2D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1328" y="17739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  <a:latin typeface="Calibri" panose="020F0502020204030204"/>
              </a:rPr>
              <a:t>Baroud (2025) · IEEE ICMCTC</a:t>
            </a:r>
            <a:endParaRPr sz="1000" b="0" i="1">
              <a:solidFill>
                <a:srgbClr val="556B82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3400" y="1399031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53312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Type 2 Diabetes · 5 agents · FL FedAvg · 3-layer IoT/Edge/App · 200 patients · HbA1c −1.3% · Accuracy 89.2%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340863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40863"/>
            <a:ext cx="109728" cy="9875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523744"/>
            <a:ext cx="621792" cy="62179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23744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2414015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HMAS-Sepsis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81328" y="2852927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  <a:latin typeface="Calibri" panose="020F0502020204030204"/>
              </a:rPr>
              <a:t>Borkowski &amp; Ben-Ari (2025) · Federal Practitioner</a:t>
            </a:r>
            <a:endParaRPr sz="1000" b="0" i="1">
              <a:solidFill>
                <a:srgbClr val="556B82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43400" y="2478023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432303"/>
            <a:ext cx="73152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Sepsis + Hospital Ops · 7 agents · Blockchain audit · HL7 FHIR + SNOMED CT · Conceptual  no empirical trial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3419856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19856"/>
            <a:ext cx="109728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02736"/>
            <a:ext cx="621792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273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81328" y="349300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AgentCare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81328" y="3931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  <a:latin typeface="Calibri" panose="020F0502020204030204"/>
              </a:rPr>
              <a:t>Nimbalkar et al. (2025) · IEEE ICTBIG</a:t>
            </a:r>
            <a:endParaRPr sz="1000" b="0" i="1">
              <a:solidFill>
                <a:srgbClr val="556B82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43400" y="3557015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511296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Multi-domain Detection · 6 agents · 4-layer architecture · FL + DP + SMPC · AUC 0.99 · Accuracy 0.96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498848"/>
            <a:ext cx="109728" cy="9875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681728"/>
            <a:ext cx="621792" cy="6217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8172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81328" y="457200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AURELIUS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81328" y="50109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  <a:latin typeface="Calibri" panose="020F0502020204030204"/>
              </a:rPr>
              <a:t>Chandrasekaran (2025) · IEEE ComManTel</a:t>
            </a:r>
            <a:endParaRPr sz="1000" b="0" i="1">
              <a:solidFill>
                <a:srgbClr val="556B82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343400" y="4636008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590288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ICU Critical Care · Hierarchical MARL · MIMIC-IV 34k stays · AUROC 0.952 · TTI 16.7h · ECE 0.034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2920" y="5577840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577840"/>
            <a:ext cx="109728" cy="9875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760720"/>
            <a:ext cx="621792" cy="6217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6072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81328" y="565099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2C54"/>
                </a:solidFill>
                <a:latin typeface="Calibri" panose="020F0502020204030204"/>
              </a:rPr>
              <a:t>EthicMAS-ICU</a:t>
            </a:r>
            <a:endParaRPr sz="14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81328" y="60899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B82"/>
                </a:solidFill>
                <a:latin typeface="Calibri" panose="020F0502020204030204"/>
              </a:rPr>
              <a:t>Chen, Albarqawi &amp; Chen (2025) · IEEE CIBCB</a:t>
            </a:r>
            <a:endParaRPr sz="1000" b="0" i="1">
              <a:solidFill>
                <a:srgbClr val="556B82"/>
              </a:solidFill>
              <a:latin typeface="Calibri" panose="020F05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343400" y="5715000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669279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ICU Mortality + LOS · 7 agents · GPT-4o · Dedicated Transparency Agent · Score 85.5% · 150 patients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 panose="020F0502020204030204"/>
              </a:rPr>
              <a:t>LITERATURE REVIEW</a:t>
            </a:r>
            <a:endParaRPr sz="10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62C54"/>
                </a:solidFill>
                <a:latin typeface="Calibri" panose="020F0502020204030204"/>
              </a:rPr>
              <a:t>Seven-Parameter Comparative Framework</a:t>
            </a:r>
            <a:endParaRPr sz="27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274320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463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 panose="020F0502020204030204"/>
              </a:rPr>
              <a:t>01</a:t>
            </a:r>
            <a:endParaRPr sz="15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" y="182880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Architecture
&amp; Agent Design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" y="2807208"/>
            <a:ext cx="36576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98448"/>
            <a:ext cx="274320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298448"/>
            <a:ext cx="27432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463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 panose="020F0502020204030204"/>
              </a:rPr>
              <a:t>02</a:t>
            </a:r>
            <a:endParaRPr sz="1500" b="1" i="0">
              <a:solidFill>
                <a:srgbClr val="065A82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57016" y="182880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Data Sources
&amp; Integration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57016" y="2807208"/>
            <a:ext cx="365760" cy="45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298448"/>
            <a:ext cx="274320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98448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463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libri" panose="020F0502020204030204"/>
              </a:rPr>
              <a:t>03</a:t>
            </a:r>
            <a:endParaRPr sz="15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3096" y="182880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Privacy
&amp; Security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83096" y="2807208"/>
            <a:ext cx="36576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298448"/>
            <a:ext cx="274320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298448"/>
            <a:ext cx="27432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9176" y="1463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 panose="020F0502020204030204"/>
              </a:rPr>
              <a:t>04</a:t>
            </a:r>
            <a:endParaRPr sz="1500" b="1" i="0">
              <a:solidFill>
                <a:srgbClr val="1C7293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09176" y="1828800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Clinical Performance
&amp; Validation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409176" y="2807208"/>
            <a:ext cx="36576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3657600"/>
            <a:ext cx="301752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3657600"/>
            <a:ext cx="301752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9616" y="3822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 panose="020F0502020204030204"/>
              </a:rPr>
              <a:t>05</a:t>
            </a:r>
            <a:endParaRPr sz="15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99616" y="4187952"/>
            <a:ext cx="276148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Explainability
&amp; Transparency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99616" y="5166360"/>
            <a:ext cx="36576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3657600"/>
            <a:ext cx="301752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63440" y="3657600"/>
            <a:ext cx="3017520" cy="73152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5" y="3822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2C54"/>
                </a:solidFill>
                <a:latin typeface="Calibri" panose="020F0502020204030204"/>
              </a:rPr>
              <a:t>06</a:t>
            </a:r>
            <a:endParaRPr sz="15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91455" y="4187952"/>
            <a:ext cx="276148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Scalability
&amp; Deployment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791455" y="5166360"/>
            <a:ext cx="365760" cy="457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79" y="3657600"/>
            <a:ext cx="3017520" cy="210312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79" y="3657600"/>
            <a:ext cx="3017520" cy="73152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38221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A88A"/>
                </a:solidFill>
                <a:latin typeface="Calibri" panose="020F0502020204030204"/>
              </a:rPr>
              <a:t>07</a:t>
            </a:r>
            <a:endParaRPr sz="1500" b="1" i="0">
              <a:solidFill>
                <a:srgbClr val="02A88A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83296" y="4187952"/>
            <a:ext cx="276148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Ethical &amp;
Governance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083296" y="5166360"/>
            <a:ext cx="365760" cy="4572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71161" y="5056505"/>
            <a:ext cx="365760" cy="45720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 panose="020F0502020204030204"/>
              </a:rPr>
              <a:t>PROPOSED MODEL</a:t>
            </a:r>
            <a:endParaRPr sz="10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Unified MAS Healthcare Integration Framework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57400" cy="228600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0574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72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1490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Data
Ingestion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IoT · EHR
Wearables · Labs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87751" y="2423160"/>
            <a:ext cx="16459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34056" y="2258568"/>
            <a:ext cx="109728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417320"/>
            <a:ext cx="2057400" cy="228600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417320"/>
            <a:ext cx="2057400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472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73552" y="1490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Agent
Orchestration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62072" y="2011680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AutoGen / LangChain
CrewAI coordination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55464" y="2423160"/>
            <a:ext cx="16459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2258568"/>
            <a:ext cx="109728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1417320"/>
            <a:ext cx="2057400" cy="228600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1417320"/>
            <a:ext cx="20574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1496" y="1472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41264" y="1490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Clinical
Reasoning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9783" y="2011680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FL · Bayesian MARL
GPT-4o reasoning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23176" y="2423160"/>
            <a:ext cx="16459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2258568"/>
            <a:ext cx="109728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6055" y="1417320"/>
            <a:ext cx="2057400" cy="228600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06055" y="1417320"/>
            <a:ext cx="2057400" cy="475488"/>
          </a:xfrm>
          <a:prstGeom prst="rect">
            <a:avLst/>
          </a:prstGeom>
          <a:solidFill>
            <a:srgbClr val="02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7" y="1472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08975" y="1490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Explainability
Layer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97496" y="2011680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SHAP · LIME
Transparency scoring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390887" y="2423160"/>
            <a:ext cx="16459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1" y="2258568"/>
            <a:ext cx="109728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73768" y="1417320"/>
            <a:ext cx="2057400" cy="228600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1417320"/>
            <a:ext cx="2057400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14721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2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76688" y="14904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Governance
&amp; Output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65208" y="2011680"/>
            <a:ext cx="187451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HIPAA · GDPR · IRB
Clinician dashboard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41248" y="3931920"/>
            <a:ext cx="3566160" cy="150876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3931920"/>
            <a:ext cx="35661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 panose="020F0502020204030204"/>
              </a:rPr>
              <a:t>Real-Time
Decision Support</a:t>
            </a:r>
            <a:endParaRPr sz="12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8408" y="46451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Continuous patient monitoring with &lt;5ms edge inference latency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636008" y="3931920"/>
            <a:ext cx="3566160" cy="150876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36008" y="3931920"/>
            <a:ext cx="356616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3168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Calibri" panose="020F0502020204030204"/>
              </a:rPr>
              <a:t>Privacy-Preserving
Collaboration</a:t>
            </a:r>
            <a:endParaRPr sz="1200" b="1" i="0">
              <a:solidFill>
                <a:srgbClr val="FFA5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73168" y="46451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Federated learning across distributed nodes — no raw data sharing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430768" y="3931920"/>
            <a:ext cx="3566160" cy="150876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30768" y="3931920"/>
            <a:ext cx="35661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7928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 panose="020F0502020204030204"/>
              </a:rPr>
              <a:t>Ethical &amp;
Transparent AI</a:t>
            </a:r>
            <a:endParaRPr sz="12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67928" y="46451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4F4"/>
                </a:solidFill>
                <a:latin typeface="Calibri Light" panose="020F0302020204030204"/>
              </a:rPr>
              <a:t>Quantified explainability scores + automated governance audit trail</a:t>
            </a:r>
            <a:endParaRPr sz="1050" b="0" i="0">
              <a:solidFill>
                <a:srgbClr val="CCE4F4"/>
              </a:solidFill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 panose="020F0502020204030204"/>
              </a:rPr>
              <a:t>PROPOSED MODEL</a:t>
            </a:r>
            <a:endParaRPr sz="10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62C54"/>
                </a:solidFill>
                <a:latin typeface="Calibri" panose="020F0502020204030204"/>
              </a:rPr>
              <a:t>Key Design Principles &amp; Four-Tier Roadmap</a:t>
            </a:r>
            <a:endParaRPr sz="27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565099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09728" cy="1783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81328"/>
            <a:ext cx="347472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4813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C54"/>
                </a:solidFill>
                <a:latin typeface="Calibri" panose="020F0502020204030204"/>
              </a:rPr>
              <a:t>Federated Privacy</a:t>
            </a:r>
            <a:endParaRPr sz="13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956815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All agent nodes train locally; only model gradients are shared. Reduces leakage by ≥95% vs centralized learning (IoT-MAS-T2D benchmark).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73368" y="1298448"/>
            <a:ext cx="565099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3368" y="1298448"/>
            <a:ext cx="109728" cy="1783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1968" y="1481328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4813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C54"/>
                </a:solidFill>
                <a:latin typeface="Calibri" panose="020F0502020204030204"/>
              </a:rPr>
              <a:t>Uncertainty-Aware Governance</a:t>
            </a:r>
            <a:endParaRPr sz="13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01968" y="1956815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Agents escalate to human clinicians when confidence κ falls below threshold τ — inspired by AURELIUS selective escalation.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3236976"/>
            <a:ext cx="565099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36976"/>
            <a:ext cx="109728" cy="1783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19856"/>
            <a:ext cx="347472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34198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C54"/>
                </a:solidFill>
                <a:latin typeface="Calibri" panose="020F0502020204030204"/>
              </a:rPr>
              <a:t>Quantified Explainability</a:t>
            </a:r>
            <a:endParaRPr sz="13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89534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Dedicated Transparency Agent generates per-decision interpretability scores (SHAP + audit trail), building on EthicMAS-ICU approach.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73368" y="3236976"/>
            <a:ext cx="565099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73368" y="3236976"/>
            <a:ext cx="109728" cy="178308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1968" y="3419856"/>
            <a:ext cx="347472" cy="347472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34198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C54"/>
                </a:solidFill>
                <a:latin typeface="Calibri" panose="020F0502020204030204"/>
              </a:rPr>
              <a:t>HL7 FHIR Interoperability</a:t>
            </a:r>
            <a:endParaRPr sz="13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01968" y="389534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3A"/>
                </a:solidFill>
                <a:latin typeface="Calibri Light" panose="020F0302020204030204"/>
              </a:rPr>
              <a:t>All EHR data exchanged via HL7 FHIR + SNOMED CT standards — enabling multi-hospital deployment as proposed in HMAS-Sepsis.</a:t>
            </a:r>
            <a:endParaRPr sz="110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5193792"/>
            <a:ext cx="11338560" cy="13716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669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Integration Roadmap →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54680" y="5266944"/>
            <a:ext cx="199339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52852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Tier 1: Data Infrastructure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9544" y="5705856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4F4"/>
                </a:solidFill>
                <a:latin typeface="Calibri Light" panose="020F0302020204030204"/>
              </a:rPr>
              <a:t>Standardize IoT + EHR</a:t>
            </a:r>
            <a:endParaRPr sz="9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276088" y="5266944"/>
            <a:ext cx="1993392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0951" y="52852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Tier 2: Multicenter Validation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30951" y="5705856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4F4"/>
                </a:solidFill>
                <a:latin typeface="Calibri Light" panose="020F0302020204030204"/>
              </a:rPr>
              <a:t>Multi-hospital RCTs</a:t>
            </a:r>
            <a:endParaRPr sz="9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97496" y="5266944"/>
            <a:ext cx="1993392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52852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Tier 3: Explainability Standards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52360" y="5705856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4F4"/>
                </a:solidFill>
                <a:latin typeface="Calibri Light" panose="020F0302020204030204"/>
              </a:rPr>
              <a:t>Adopt XAI scoring</a:t>
            </a:r>
            <a:endParaRPr sz="9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518904" y="5266944"/>
            <a:ext cx="199339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285232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Tier 4: Governance Alignment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73768" y="5705856"/>
            <a:ext cx="18836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4F4"/>
                </a:solidFill>
                <a:latin typeface="Calibri Light" panose="020F0302020204030204"/>
              </a:rPr>
              <a:t>FDA/WHO/GDPR align</a:t>
            </a:r>
            <a:endParaRPr sz="900" b="0" i="0">
              <a:solidFill>
                <a:srgbClr val="CCE4F4"/>
              </a:solidFill>
              <a:latin typeface="Calibri Light" panose="020F03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 panose="020F0502020204030204"/>
              </a:rPr>
              <a:t>TARGET VENUE</a:t>
            </a:r>
            <a:endParaRPr sz="10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062C54"/>
                </a:solidFill>
                <a:latin typeface="Calibri" panose="020F0502020204030204"/>
              </a:rPr>
              <a:t>Targeted Scopus-Indexed Conferences for Submission</a:t>
            </a:r>
            <a:endParaRPr sz="27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109728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399031"/>
            <a:ext cx="1325880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99031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IEEE EMBC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6272" y="1335024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2C54"/>
                </a:solidFill>
                <a:latin typeface="Calibri" panose="020F0502020204030204"/>
              </a:rPr>
              <a:t>IEEE Engineering in Medicine and Biology Conference</a:t>
            </a:r>
            <a:endParaRPr sz="12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6272" y="17922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  <a:latin typeface="Calibri" panose="020F0502020204030204"/>
              </a:rPr>
              <a:t>2025 · Annual · Scopus Q1</a:t>
            </a:r>
            <a:endParaRPr sz="1000" b="0" i="1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78040" y="1399031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335024"/>
            <a:ext cx="411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A3A"/>
                </a:solidFill>
                <a:latin typeface="Calibri Light" panose="020F0302020204030204"/>
              </a:rPr>
              <a:t>Premier biomedical engineering conference. Directly covers AI in healthcare, clinical decision support, wearable systems, and MAS applications.</a:t>
            </a:r>
            <a:endParaRPr sz="105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0" y="1865376"/>
            <a:ext cx="41148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1874519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Acceptance ~30% · High impact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2340863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340863"/>
            <a:ext cx="109728" cy="9875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478023"/>
            <a:ext cx="1325880" cy="7132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478023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IEEE ICHI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76272" y="2414015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2C54"/>
                </a:solidFill>
                <a:latin typeface="Calibri" panose="020F0502020204030204"/>
              </a:rPr>
              <a:t>IEEE International Conference on Healthcare Informatics</a:t>
            </a:r>
            <a:endParaRPr sz="12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2871215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  <a:latin typeface="Calibri" panose="020F0502020204030204"/>
              </a:rPr>
              <a:t>2025 · Annual · Scopus Indexed</a:t>
            </a:r>
            <a:endParaRPr sz="1000" b="0" i="1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78040" y="2478023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414015"/>
            <a:ext cx="411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A3A"/>
                </a:solidFill>
                <a:latin typeface="Calibri Light" panose="020F0302020204030204"/>
              </a:rPr>
              <a:t>Focused on healthcare informatics, EHR systems, and AI-driven clinical tools. Strong match for comparative MAS analysis.</a:t>
            </a:r>
            <a:endParaRPr sz="105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0" y="2944368"/>
            <a:ext cx="411480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2953511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Acceptance ~25% · Targeted scope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3419856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109728" cy="9875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557015"/>
            <a:ext cx="1325880" cy="7132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557015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ACM CHIL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76272" y="3493008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2C54"/>
                </a:solidFill>
                <a:latin typeface="Calibri" panose="020F0502020204030204"/>
              </a:rPr>
              <a:t>ACM Conference on Health, Inference &amp; Learning</a:t>
            </a:r>
            <a:endParaRPr sz="12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76272" y="39502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  <a:latin typeface="Calibri" panose="020F0502020204030204"/>
              </a:rPr>
              <a:t>2025 · Annual · Scopus Indexed</a:t>
            </a:r>
            <a:endParaRPr sz="1000" b="0" i="1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78040" y="3557015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493008"/>
            <a:ext cx="411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A3A"/>
                </a:solidFill>
                <a:latin typeface="Calibri Light" panose="020F0302020204030204"/>
              </a:rPr>
              <a:t>Top venue for ML and AI in clinical settings. Emphasis on interpretability, fairness, and validation — aligns with ethical MAS theme.</a:t>
            </a:r>
            <a:endParaRPr sz="105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15200" y="4023359"/>
            <a:ext cx="41148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0064" y="4032504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Acceptance ~20% · Rigorous review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4498848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498848"/>
            <a:ext cx="109728" cy="9875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3232" y="4636008"/>
            <a:ext cx="1325880" cy="7132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636008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IEEE BIBM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76272" y="4572000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2C54"/>
                </a:solidFill>
                <a:latin typeface="Calibri" panose="020F0502020204030204"/>
              </a:rPr>
              <a:t>IEEE International Conference on Bioinformatics &amp; Biomedicine</a:t>
            </a:r>
            <a:endParaRPr sz="12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76272" y="50292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  <a:latin typeface="Calibri" panose="020F0502020204030204"/>
              </a:rPr>
              <a:t>2025 · Annual · Scopus Indexed</a:t>
            </a:r>
            <a:endParaRPr sz="1000" b="0" i="1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178040" y="4636008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572000"/>
            <a:ext cx="411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A3A"/>
                </a:solidFill>
                <a:latin typeface="Calibri Light" panose="020F0302020204030204"/>
              </a:rPr>
              <a:t>Covers bioinformatics, intelligent health systems, and federated learning in medicine. Strong fit for FL-based MAS privacy analysis.</a:t>
            </a:r>
            <a:endParaRPr sz="105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315200" y="5102352"/>
            <a:ext cx="411480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0064" y="51114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Acceptance ~18% · High prestige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02920" y="5577840"/>
            <a:ext cx="11338560" cy="987552"/>
          </a:xfrm>
          <a:prstGeom prst="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577840"/>
            <a:ext cx="109728" cy="9875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" y="5715000"/>
            <a:ext cx="1325880" cy="7132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715000"/>
            <a:ext cx="1325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IEEE CBMS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76272" y="565099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2C54"/>
                </a:solidFill>
                <a:latin typeface="Calibri" panose="020F0502020204030204"/>
              </a:rPr>
              <a:t>IEEE International Symposium on Computer-Based Medical Systems</a:t>
            </a:r>
            <a:endParaRPr sz="1200" b="1" i="0">
              <a:solidFill>
                <a:srgbClr val="062C54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76272" y="61081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28090"/>
                </a:solidFill>
                <a:latin typeface="Calibri" panose="020F0502020204030204"/>
              </a:rPr>
              <a:t>2025 · Annual · Scopus Indexed</a:t>
            </a:r>
            <a:endParaRPr sz="1000" b="0" i="1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178040" y="5715000"/>
            <a:ext cx="36576" cy="7132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650992"/>
            <a:ext cx="4114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A3A"/>
                </a:solidFill>
                <a:latin typeface="Calibri Light" panose="020F0302020204030204"/>
              </a:rPr>
              <a:t>Long-running venue for computer-based clinical systems. Ideal for MAS architecture comparison and deployment readiness analysis.</a:t>
            </a:r>
            <a:endParaRPr sz="1050" b="0" i="0">
              <a:solidFill>
                <a:srgbClr val="1A2A3A"/>
              </a:solidFill>
              <a:latin typeface="Calibri Light" panose="020F030202020403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315200" y="6181344"/>
            <a:ext cx="41148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6190488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Acceptance ~35% · Accessible entry point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 panose="020F0502020204030204"/>
              </a:rPr>
              <a:t>CONCLUSION</a:t>
            </a:r>
            <a:endParaRPr sz="10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1206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Summary &amp; Contributions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10881360" cy="109728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 Light" panose="020F0302020204030204"/>
              </a:rPr>
              <a:t>This study presents the first structured seven-parameter comparative framework for Multi-Agent AI Systems in healthcare, revealing critical disparities in validation rigor, privacy depth, and ethical governance across five 2024–2025 systems and proposing a four-tier integration roadmap for responsible clinical deployment.</a:t>
            </a:r>
            <a:endParaRPr sz="1200" b="0" i="0">
              <a:solidFill>
                <a:srgbClr val="FFFFFF"/>
              </a:solidFill>
              <a:latin typeface="Calibri Light" panose="020F03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578608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78608"/>
            <a:ext cx="35661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2779776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1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 panose="020F0502020204030204"/>
              </a:rPr>
              <a:t>Validation</a:t>
            </a:r>
            <a:endParaRPr sz="1200" b="1" i="0">
              <a:solidFill>
                <a:srgbClr val="028090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IoT-MAS-T2D &amp; AURELIUS validated with real patients; HMAS-Sepsis remains conceptual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2578608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578608"/>
            <a:ext cx="35661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2779776"/>
            <a:ext cx="292608" cy="2926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 panose="020F0502020204030204"/>
              </a:rPr>
              <a:t>Privacy</a:t>
            </a:r>
            <a:endParaRPr sz="1200" b="1" i="0">
              <a:solidFill>
                <a:srgbClr val="02C39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17136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FL universal across all 5 systems — but governance depth varies greatly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38159" y="2578608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578608"/>
            <a:ext cx="356616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2779776"/>
            <a:ext cx="292608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1" y="2743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Calibri" panose="020F0502020204030204"/>
              </a:rPr>
              <a:t>Explainability</a:t>
            </a:r>
            <a:endParaRPr sz="1200" b="1" i="0">
              <a:solidFill>
                <a:srgbClr val="FFA500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66175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EthicMAS-ICU is the ONLY system with a quantified Transparency Agent (85.5%)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4151376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151376"/>
            <a:ext cx="3566160" cy="64008"/>
          </a:xfrm>
          <a:prstGeom prst="rect">
            <a:avLst/>
          </a:prstGeom>
          <a:solidFill>
            <a:srgbClr val="4AC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" y="4352544"/>
            <a:ext cx="292608" cy="292608"/>
          </a:xfrm>
          <a:prstGeom prst="rect">
            <a:avLst/>
          </a:prstGeom>
          <a:solidFill>
            <a:srgbClr val="4AC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1" y="43159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C2F8"/>
                </a:solidFill>
                <a:latin typeface="Calibri" panose="020F0502020204030204"/>
              </a:rPr>
              <a:t>Governance</a:t>
            </a:r>
            <a:endParaRPr sz="1200" b="1" i="0">
              <a:solidFill>
                <a:srgbClr val="4AC2F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" y="47731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AURELIUS sets the standard: selective escalation when uncertainty exceeds threshold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89120" y="4151376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151376"/>
            <a:ext cx="3566160" cy="64008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17136" y="4352544"/>
            <a:ext cx="292608" cy="292608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43159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9A"/>
                </a:solidFill>
                <a:latin typeface="Calibri" panose="020F0502020204030204"/>
              </a:rPr>
              <a:t>Coverage</a:t>
            </a:r>
            <a:endParaRPr sz="1200" b="1" i="0">
              <a:solidFill>
                <a:srgbClr val="F4729A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17136" y="47731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AgentCare broadest domain coverage — but limited to small benchmark dataset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38159" y="4151376"/>
            <a:ext cx="3566160" cy="1417320"/>
          </a:xfrm>
          <a:prstGeom prst="rect">
            <a:avLst/>
          </a:prstGeom>
          <a:solidFill>
            <a:srgbClr val="0D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59" y="4151376"/>
            <a:ext cx="3566160" cy="64008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66175" y="4352544"/>
            <a:ext cx="292608" cy="292608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1" y="43159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F3D0"/>
                </a:solidFill>
                <a:latin typeface="Calibri" panose="020F0502020204030204"/>
              </a:rPr>
              <a:t>Interoperability</a:t>
            </a:r>
            <a:endParaRPr sz="1200" b="1" i="0">
              <a:solidFill>
                <a:srgbClr val="A7F3D0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66175" y="477316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4F4"/>
                </a:solidFill>
                <a:latin typeface="Calibri Light" panose="020F0302020204030204"/>
              </a:rPr>
              <a:t>HMAS-Sepsis proposes HL7 FHIR + SNOMED CT — most advanced, yet untested</a:t>
            </a:r>
            <a:endParaRPr sz="1000" b="0" i="0">
              <a:solidFill>
                <a:srgbClr val="CCE4F4"/>
              </a:solidFill>
              <a:latin typeface="Calibri Light" panose="020F03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" y="6309360"/>
            <a:ext cx="10972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>
                <a:solidFill>
                  <a:srgbClr val="02C39A"/>
                </a:solidFill>
                <a:latin typeface="Calibri" panose="020F0502020204030204"/>
              </a:rPr>
              <a:t>]</a:t>
            </a:r>
            <a:endParaRPr lang="en-US" sz="1400" b="1" i="0">
              <a:solidFill>
                <a:srgbClr val="02C39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5741</Words>
  <Application>WPS Presentation</Application>
  <PresentationFormat>On-screen Show (4:3)</PresentationFormat>
  <Paragraphs>292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siddharth joshi</cp:lastModifiedBy>
  <cp:revision>3</cp:revision>
  <dcterms:created xsi:type="dcterms:W3CDTF">2013-01-27T09:14:00Z</dcterms:created>
  <dcterms:modified xsi:type="dcterms:W3CDTF">2026-05-31T13:15:58Z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3AC69CA62435432FA981090D99E2B33B_12</vt:lpwstr>
  </property>
  <property fmtid="{D5CDD505-2E9C-101B-9397-08002B2CF9AE}" pid="3" name="KSOProductBuildVer">
    <vt:lpwstr>1033-12.1.0.25242</vt:lpwstr>
  </property>
</Properties>
</file>